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HK Grotesk Light" panose="020B0604020202020204" charset="0"/>
      <p:regular r:id="rId11"/>
    </p:embeddedFont>
    <p:embeddedFont>
      <p:font typeface="Gilda Display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3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11225" y="678740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905000" y="2050765"/>
            <a:ext cx="11887200" cy="4713777"/>
            <a:chOff x="0" y="1049655"/>
            <a:chExt cx="9182100" cy="6285037"/>
          </a:xfrm>
        </p:grpSpPr>
        <p:sp>
          <p:nvSpPr>
            <p:cNvPr id="6" name="TextBox 6"/>
            <p:cNvSpPr txBox="1"/>
            <p:nvPr/>
          </p:nvSpPr>
          <p:spPr>
            <a:xfrm>
              <a:off x="0" y="2410266"/>
              <a:ext cx="9182100" cy="49244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40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Group Assignment </a:t>
              </a:r>
              <a:r>
                <a:rPr lang="en-US" sz="4000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4</a:t>
              </a:r>
              <a:r>
                <a:rPr lang="en-US" sz="40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 </a:t>
              </a:r>
              <a:r>
                <a:rPr lang="en-US" sz="40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– Progressive Demo &amp; Retrospective </a:t>
              </a:r>
              <a:r>
                <a:rPr lang="en-US" sz="40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2 </a:t>
              </a:r>
              <a:r>
                <a:rPr lang="en-US" sz="40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(15%)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4000" u="none" strike="noStrike" dirty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Submitted By: Muhammed Murtuza</a:t>
              </a:r>
            </a:p>
            <a:p>
              <a:pPr marL="0" lvl="0" indent="0" algn="l">
                <a:lnSpc>
                  <a:spcPct val="150000"/>
                </a:lnSpc>
                <a:spcBef>
                  <a:spcPct val="0"/>
                </a:spcBef>
              </a:pPr>
              <a:r>
                <a:rPr lang="en-US" sz="4000" u="none" strike="noStrike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Github</a:t>
              </a:r>
              <a:r>
                <a:rPr lang="en-US" sz="40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: </a:t>
              </a:r>
              <a:r>
                <a:rPr lang="en-US" sz="2800" u="none" strike="noStrike" dirty="0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github.com/Murtuzamohammed78692/</a:t>
              </a:r>
              <a:r>
                <a:rPr lang="en-US" sz="2800" u="none" strike="noStrike" dirty="0" err="1" smtClean="0">
                  <a:solidFill>
                    <a:srgbClr val="1A1A1A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Phishing_Website</a:t>
              </a:r>
              <a:endParaRPr lang="en-US" sz="2800" u="none" strike="noStrike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049655"/>
              <a:ext cx="9182100" cy="10999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740"/>
                </a:lnSpc>
              </a:pPr>
              <a:r>
                <a:rPr lang="en-US" sz="7200" b="1" dirty="0">
                  <a:solidFill>
                    <a:srgbClr val="4682B4"/>
                  </a:solidFill>
                  <a:latin typeface="HK Grotesk Light"/>
                  <a:ea typeface="HK Grotesk Light"/>
                  <a:cs typeface="HK Grotesk Light"/>
                  <a:sym typeface="HK Grotesk Light"/>
                </a:rPr>
                <a:t>Phishing Website Detection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945975">
            <a:off x="-3300521" y="1520192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296400" y="838173"/>
            <a:ext cx="8324850" cy="2280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Project Status: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05800" y="3771900"/>
            <a:ext cx="8763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During Sprint 2, the project advanced from initial data preprocessing into core model execution, validation, and user interface deployment. </a:t>
            </a:r>
            <a:endParaRPr lang="en-US" sz="2400" dirty="0" smtClean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Managing </a:t>
            </a:r>
            <a:r>
              <a:rPr lang="en-US" sz="2400" dirty="0"/>
              <a:t>all development tracks independently, I successfully trained and compared four baseline classifiers, tuned their </a:t>
            </a:r>
            <a:r>
              <a:rPr lang="en-US" sz="2400" dirty="0" err="1"/>
              <a:t>hyperparameters</a:t>
            </a:r>
            <a:r>
              <a:rPr lang="en-US" sz="2400" dirty="0"/>
              <a:t>, serialized the top-performing model, and built an interactive local web interface using the Flask framework. 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1981200" y="876300"/>
            <a:ext cx="126396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User Stories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76400" y="2042794"/>
            <a:ext cx="14630400" cy="720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The following user stories from Kanban 2 were demonstrated live, with all corresponding tasks marked as "Done" in </a:t>
            </a:r>
            <a:r>
              <a:rPr lang="en-US" sz="2600" dirty="0" smtClean="0"/>
              <a:t>Jira.</a:t>
            </a:r>
            <a:endParaRPr lang="en-US" sz="2600" dirty="0"/>
          </a:p>
          <a:p>
            <a:pPr>
              <a:lnSpc>
                <a:spcPct val="150000"/>
              </a:lnSpc>
            </a:pPr>
            <a:r>
              <a:rPr lang="en-US" sz="2600" dirty="0"/>
              <a:t>•	User Story K2-1 (Model Benchmarking): As a solo developer, I need to train and evaluate Decision Trees, Random Forests, SVMs, and </a:t>
            </a:r>
            <a:r>
              <a:rPr lang="en-US" sz="2600" dirty="0" err="1"/>
              <a:t>XGBoost</a:t>
            </a:r>
            <a:r>
              <a:rPr lang="en-US" sz="2600" dirty="0"/>
              <a:t> on our engineered feature dataset so that I can objectively choose the most accurate classifier based on F1-Score.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•	User Story </a:t>
            </a:r>
            <a:r>
              <a:rPr lang="en-US" sz="2600" dirty="0" smtClean="0"/>
              <a:t>K2-1 </a:t>
            </a:r>
            <a:r>
              <a:rPr lang="en-US" sz="2600" dirty="0"/>
              <a:t>(</a:t>
            </a:r>
            <a:r>
              <a:rPr lang="en-US" sz="2600" dirty="0" err="1"/>
              <a:t>Hyperparameter</a:t>
            </a:r>
            <a:r>
              <a:rPr lang="en-US" sz="2600" dirty="0"/>
              <a:t> Tuning &amp; Cross-Validation): As an ML engineer, I need to implement a 10-fold cross-validation loop and adjust </a:t>
            </a:r>
            <a:r>
              <a:rPr lang="en-US" sz="2600" dirty="0" err="1"/>
              <a:t>hyperparameter</a:t>
            </a:r>
            <a:r>
              <a:rPr lang="en-US" sz="2600" dirty="0"/>
              <a:t> configurations to eliminate overfitting.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•	User Story </a:t>
            </a:r>
            <a:r>
              <a:rPr lang="en-US" sz="2600" dirty="0" smtClean="0"/>
              <a:t>K2-1 </a:t>
            </a:r>
            <a:r>
              <a:rPr lang="en-US" sz="2600" dirty="0"/>
              <a:t>(Model Serialization): As an ML engineer, I need to serialize the trained Random Forest model using the Pickle library so it can be exported cleanly into our web application environment.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•	User Story </a:t>
            </a:r>
            <a:r>
              <a:rPr lang="en-US" sz="2600" dirty="0" smtClean="0"/>
              <a:t>K2-2 </a:t>
            </a:r>
            <a:r>
              <a:rPr lang="en-US" sz="2600" dirty="0"/>
              <a:t>(Flask Web Integration): As a full-stack developer, I need to set up a Flask core gateway running a real-time URL prediction route to extract features dynamically and serve instant model verdicts.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666749" y="838173"/>
            <a:ext cx="15030451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Core Functionality Validated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1625" y="2102788"/>
            <a:ext cx="9736695" cy="76987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/>
              <a:t>The progressive demonstration validated the following interactive software components: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Multi-Model Performance Matrix: Presentation of a performance visualization proving that the </a:t>
            </a:r>
            <a:r>
              <a:rPr lang="en-US" sz="2400" b="1" dirty="0"/>
              <a:t>Random Forest model </a:t>
            </a:r>
            <a:r>
              <a:rPr lang="en-US" sz="2400" dirty="0"/>
              <a:t>achieved the highest operational metrics, reaching an overall accuracy of </a:t>
            </a:r>
            <a:r>
              <a:rPr lang="en-US" sz="2400" b="1" dirty="0" smtClean="0"/>
              <a:t>93.7% </a:t>
            </a:r>
            <a:r>
              <a:rPr lang="en-US" sz="2400" dirty="0"/>
              <a:t>and an F1-Score of </a:t>
            </a:r>
            <a:r>
              <a:rPr lang="en-US" sz="2400" b="1" dirty="0" smtClean="0"/>
              <a:t>93.5% </a:t>
            </a:r>
            <a:r>
              <a:rPr lang="en-US" sz="2400" dirty="0"/>
              <a:t>(outperforming Decision Tree, SVM, and </a:t>
            </a:r>
            <a:r>
              <a:rPr lang="en-US" sz="2400" dirty="0" err="1"/>
              <a:t>XGBoost</a:t>
            </a:r>
            <a:r>
              <a:rPr lang="en-US" sz="2400" dirty="0"/>
              <a:t> setups).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Live UI Prediction Engine: Validation of a functional local web interface hosted at</a:t>
            </a:r>
            <a:r>
              <a:rPr lang="en-US" sz="2400" b="1" dirty="0"/>
              <a:t> http://localhost:5000</a:t>
            </a:r>
            <a:r>
              <a:rPr lang="en-US" sz="2400" dirty="0"/>
              <a:t>. Users can type a live URL into an input form, prompting the system to dynamically compute feature arrays and instantly return a clear </a:t>
            </a:r>
            <a:r>
              <a:rPr lang="en-US" sz="2400" b="1" dirty="0"/>
              <a:t>"Phishing" or "Legitimate" </a:t>
            </a:r>
            <a:r>
              <a:rPr lang="en-US" sz="2400" dirty="0"/>
              <a:t>security verdict alongside a model percentage confidence rating. 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•	Feature Importance Insights: Visual proof of Random Forest feature weights via </a:t>
            </a:r>
            <a:r>
              <a:rPr lang="en-US" sz="2400" b="1" dirty="0" err="1"/>
              <a:t>Matplotlib</a:t>
            </a:r>
            <a:r>
              <a:rPr lang="en-US" sz="2400" b="1" dirty="0"/>
              <a:t> graphs</a:t>
            </a:r>
            <a:r>
              <a:rPr lang="en-US" sz="2400" dirty="0"/>
              <a:t>, showing that attributes like SSL Final State and URL Anchor Link Ratios provided the highest classification impact.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454" y="3086100"/>
            <a:ext cx="7200546" cy="4675069"/>
          </a:xfrm>
          <a:prstGeom prst="rect">
            <a:avLst/>
          </a:prstGeom>
        </p:spPr>
      </p:pic>
      <p:sp>
        <p:nvSpPr>
          <p:cNvPr id="2" name="Freeform 2"/>
          <p:cNvSpPr/>
          <p:nvPr/>
        </p:nvSpPr>
        <p:spPr>
          <a:xfrm rot="-4945975">
            <a:off x="15101778" y="-5016438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8"/>
                </a:lnTo>
                <a:lnTo>
                  <a:pt x="0" y="102997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268288">
            <a:off x="14795639" y="5873497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-1268288">
            <a:off x="-6005389" y="-6781594"/>
            <a:ext cx="10936025" cy="10299747"/>
          </a:xfrm>
          <a:custGeom>
            <a:avLst/>
            <a:gdLst/>
            <a:ahLst/>
            <a:cxnLst/>
            <a:rect l="l" t="t" r="r" b="b"/>
            <a:pathLst>
              <a:path w="10936025" h="10299747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2105025" y="4419600"/>
            <a:ext cx="12639675" cy="11664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799"/>
              </a:lnSpc>
            </a:pPr>
            <a:r>
              <a:rPr lang="en-US" sz="8799" dirty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Sprint </a:t>
            </a:r>
            <a:r>
              <a:rPr lang="en-US" sz="8799" dirty="0" smtClean="0">
                <a:solidFill>
                  <a:srgbClr val="1A1A1A"/>
                </a:solidFill>
                <a:latin typeface="Gilda Display"/>
                <a:ea typeface="Gilda Display"/>
                <a:cs typeface="Gilda Display"/>
                <a:sym typeface="Gilda Display"/>
              </a:rPr>
              <a:t>2 Concluded</a:t>
            </a:r>
            <a:endParaRPr lang="en-US" sz="8799" dirty="0">
              <a:solidFill>
                <a:srgbClr val="1A1A1A"/>
              </a:solidFill>
              <a:latin typeface="Gilda Display"/>
              <a:ea typeface="Gilda Display"/>
              <a:cs typeface="Gilda Display"/>
              <a:sym typeface="Gilda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130</Words>
  <Application>Microsoft Office PowerPoint</Application>
  <PresentationFormat>Custom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</vt:lpstr>
      <vt:lpstr>HK Grotesk Light</vt:lpstr>
      <vt:lpstr>Arial</vt:lpstr>
      <vt:lpstr>Gilda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BIT310 Capstone Assignment 2</dc:title>
  <dc:creator>Muhammed Murtuza</dc:creator>
  <dc:description>Presentation - BIT310 Capstone Assignment 2</dc:description>
  <cp:lastModifiedBy>Muhammed Murtuza</cp:lastModifiedBy>
  <cp:revision>7</cp:revision>
  <dcterms:created xsi:type="dcterms:W3CDTF">2006-08-16T00:00:00Z</dcterms:created>
  <dcterms:modified xsi:type="dcterms:W3CDTF">2026-06-05T19:11:29Z</dcterms:modified>
  <dc:identifier>DAHLuX5y3GU</dc:identifier>
</cp:coreProperties>
</file>