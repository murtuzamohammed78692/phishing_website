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Gilda Display" panose="020B0604020202020204" charset="0"/>
      <p:regular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HK Grotesk Light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3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66750" y="666750"/>
            <a:ext cx="8629650" cy="8953500"/>
            <a:chOff x="0" y="0"/>
            <a:chExt cx="1336959" cy="138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959" cy="1387131"/>
            </a:xfrm>
            <a:custGeom>
              <a:avLst/>
              <a:gdLst/>
              <a:ahLst/>
              <a:cxnLst/>
              <a:rect l="l" t="t" r="r" b="b"/>
              <a:pathLst>
                <a:path w="1336959" h="1387131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t="-199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9525000" y="2981794"/>
            <a:ext cx="8153400" cy="3975113"/>
            <a:chOff x="0" y="1049655"/>
            <a:chExt cx="9182100" cy="5300152"/>
          </a:xfrm>
        </p:grpSpPr>
        <p:sp>
          <p:nvSpPr>
            <p:cNvPr id="6" name="TextBox 6"/>
            <p:cNvSpPr txBox="1"/>
            <p:nvPr/>
          </p:nvSpPr>
          <p:spPr>
            <a:xfrm>
              <a:off x="0" y="2410266"/>
              <a:ext cx="9182100" cy="39395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en-US" sz="3200" u="none" strike="noStrike" dirty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Group Assignment </a:t>
              </a:r>
              <a:r>
                <a:rPr lang="en-US" sz="3200" u="none" strike="noStrike" dirty="0" smtClean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3 </a:t>
              </a:r>
              <a:r>
                <a:rPr lang="en-US" sz="3200" u="none" strike="noStrike" dirty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– Progressive Demo &amp; Retrospective 1 (15%)</a:t>
              </a:r>
            </a:p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en-US" sz="3200" u="none" strike="noStrike" dirty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Submitted By: Muhammed Murtuza</a:t>
              </a:r>
            </a:p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en-US" sz="3200" u="none" strike="noStrike" smtClean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Github</a:t>
              </a:r>
              <a:r>
                <a:rPr lang="en-US" sz="3200" u="none" strike="noStrike" dirty="0" smtClean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: </a:t>
              </a:r>
              <a:r>
                <a:rPr lang="en-US" sz="2000" u="none" strike="noStrike" dirty="0" smtClean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github.com/Murtuzamohammed78692/</a:t>
              </a:r>
              <a:r>
                <a:rPr lang="en-US" sz="2000" u="none" strike="noStrike" dirty="0" err="1" smtClean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Phishing_Website</a:t>
              </a:r>
              <a:endParaRPr lang="en-US" sz="2000" u="none" strike="noStrike" dirty="0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49655"/>
              <a:ext cx="9182100" cy="9770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740"/>
                </a:lnSpc>
              </a:pPr>
              <a:r>
                <a:rPr lang="en-US" sz="4800" b="1" dirty="0">
                  <a:solidFill>
                    <a:srgbClr val="4682B4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Phishing Website Detection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45975">
            <a:off x="-7194258" y="4301490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66750" y="666750"/>
            <a:ext cx="7191375" cy="8953500"/>
            <a:chOff x="0" y="0"/>
            <a:chExt cx="1114132" cy="138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14132" cy="1387131"/>
            </a:xfrm>
            <a:custGeom>
              <a:avLst/>
              <a:gdLst/>
              <a:ahLst/>
              <a:cxnLst/>
              <a:rect l="l" t="t" r="r" b="b"/>
              <a:pathLst>
                <a:path w="1114132" h="1387131">
                  <a:moveTo>
                    <a:pt x="43062" y="0"/>
                  </a:moveTo>
                  <a:lnTo>
                    <a:pt x="1071070" y="0"/>
                  </a:lnTo>
                  <a:cubicBezTo>
                    <a:pt x="1094853" y="0"/>
                    <a:pt x="1114132" y="19280"/>
                    <a:pt x="1114132" y="43062"/>
                  </a:cubicBezTo>
                  <a:lnTo>
                    <a:pt x="1114132" y="1344069"/>
                  </a:lnTo>
                  <a:cubicBezTo>
                    <a:pt x="1114132" y="1367852"/>
                    <a:pt x="1094853" y="1387131"/>
                    <a:pt x="1071070" y="1387131"/>
                  </a:cubicBezTo>
                  <a:lnTo>
                    <a:pt x="43062" y="1387131"/>
                  </a:lnTo>
                  <a:cubicBezTo>
                    <a:pt x="19280" y="1387131"/>
                    <a:pt x="0" y="1367852"/>
                    <a:pt x="0" y="1344069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4"/>
              <a:stretch>
                <a:fillRect l="-346" r="-346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9296400" y="838173"/>
            <a:ext cx="8324850" cy="2280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Project Status: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10600" y="3771900"/>
            <a:ext cx="84582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</a:t>
            </a:r>
            <a:r>
              <a:rPr lang="en-US" sz="2000" dirty="0" smtClean="0"/>
              <a:t>he </a:t>
            </a:r>
            <a:r>
              <a:rPr lang="en-US" sz="2000" dirty="0"/>
              <a:t>structural foundation of the Phishing Website Detection </a:t>
            </a:r>
            <a:r>
              <a:rPr lang="en-US" sz="2000" dirty="0" smtClean="0"/>
              <a:t>system has </a:t>
            </a:r>
            <a:r>
              <a:rPr lang="en-US" sz="2000" dirty="0"/>
              <a:t>transitioned successfully </a:t>
            </a:r>
            <a:r>
              <a:rPr lang="en-US" sz="2000" dirty="0" smtClean="0"/>
              <a:t>from </a:t>
            </a:r>
            <a:r>
              <a:rPr lang="en-US" sz="2000" dirty="0"/>
              <a:t>an abstract concept into a functional data collection, parsing</a:t>
            </a:r>
            <a:r>
              <a:rPr lang="en-US" sz="2000" dirty="0" smtClean="0"/>
              <a:t>, </a:t>
            </a:r>
            <a:r>
              <a:rPr lang="en-US" sz="2000" dirty="0"/>
              <a:t>and cleaning infrastructure</a:t>
            </a:r>
            <a:r>
              <a:rPr lang="en-US" sz="20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sz="2000" dirty="0" smtClean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Operating </a:t>
            </a:r>
            <a:r>
              <a:rPr lang="en-US" sz="2000" dirty="0"/>
              <a:t>completely as a solo developer, my technical focus during </a:t>
            </a:r>
            <a:r>
              <a:rPr lang="en-US" sz="2000" dirty="0" smtClean="0"/>
              <a:t>this </a:t>
            </a:r>
            <a:r>
              <a:rPr lang="en-US" sz="2000" dirty="0"/>
              <a:t>initial sprint was to </a:t>
            </a:r>
            <a:r>
              <a:rPr lang="en-US" sz="2000" dirty="0" smtClean="0"/>
              <a:t>build a </a:t>
            </a:r>
            <a:r>
              <a:rPr lang="en-US" sz="2000" dirty="0"/>
              <a:t>data engineering pipeline capable of consolidating web records </a:t>
            </a:r>
            <a:r>
              <a:rPr lang="en-US" sz="2000" dirty="0" smtClean="0"/>
              <a:t>from </a:t>
            </a:r>
            <a:r>
              <a:rPr lang="en-US" sz="2000" dirty="0"/>
              <a:t>multiple sources and  </a:t>
            </a:r>
            <a:r>
              <a:rPr lang="en-US" sz="2000" dirty="0" smtClean="0"/>
              <a:t>preparing </a:t>
            </a:r>
            <a:r>
              <a:rPr lang="en-US" sz="2000" dirty="0"/>
              <a:t>them for future model benchmarking.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268288">
            <a:off x="-6005389" y="-6781594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1981200" y="876300"/>
            <a:ext cx="12639675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User Stories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2042794"/>
            <a:ext cx="14630400" cy="7689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The following user stories from </a:t>
            </a:r>
            <a:r>
              <a:rPr lang="en-US" sz="2800" b="1" dirty="0"/>
              <a:t>Kanban 1 (Load and Explore Databases)</a:t>
            </a:r>
            <a:r>
              <a:rPr lang="en-US" sz="2800" dirty="0"/>
              <a:t> were demonstrated live, showing a status of </a:t>
            </a:r>
            <a:r>
              <a:rPr lang="en-US" sz="2800" b="1" dirty="0"/>
              <a:t>"Done"</a:t>
            </a:r>
            <a:r>
              <a:rPr lang="en-US" sz="2800" dirty="0"/>
              <a:t> in my personal Jira </a:t>
            </a:r>
            <a:r>
              <a:rPr lang="en-US" sz="2800" dirty="0" smtClean="0"/>
              <a:t>backlog:</a:t>
            </a:r>
            <a:endParaRPr lang="en-US" sz="2800" dirty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 smtClean="0"/>
              <a:t>User </a:t>
            </a:r>
            <a:r>
              <a:rPr lang="en-US" sz="2800" b="1" dirty="0"/>
              <a:t>Story K1-1 (Database Ingestion):</a:t>
            </a:r>
            <a:r>
              <a:rPr lang="en-US" sz="2800" dirty="0"/>
              <a:t> </a:t>
            </a:r>
            <a:r>
              <a:rPr lang="en-US" sz="2800" i="1" dirty="0"/>
              <a:t>As a solo developer, I need to programmatically query and load raw datasets from </a:t>
            </a:r>
            <a:r>
              <a:rPr lang="en-US" sz="2800" i="1" dirty="0" err="1"/>
              <a:t>PhishTank</a:t>
            </a:r>
            <a:r>
              <a:rPr lang="en-US" sz="2800" i="1" dirty="0"/>
              <a:t>, the UCI Machine Learning Repository, and Alexa Top 1 Million logs so that the project contains a comprehensive repository of both phishing and authentic baseline websites.</a:t>
            </a:r>
            <a:endParaRPr lang="en-US" sz="2800" dirty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User Story K1-2 (Exploratory Data Analysis &amp; Cleaning):</a:t>
            </a:r>
            <a:r>
              <a:rPr lang="en-US" sz="2800" dirty="0"/>
              <a:t> </a:t>
            </a:r>
            <a:r>
              <a:rPr lang="en-US" sz="2800" i="1" dirty="0"/>
              <a:t>As a data engineer, I need to use Pandas and </a:t>
            </a:r>
            <a:r>
              <a:rPr lang="en-US" sz="2800" i="1" dirty="0" err="1"/>
              <a:t>NumPy</a:t>
            </a:r>
            <a:r>
              <a:rPr lang="en-US" sz="2800" i="1" dirty="0"/>
              <a:t> to identify missing structural values, drop duplicate URL streams, and fix data inconsistencies across raw sources.</a:t>
            </a:r>
            <a:endParaRPr lang="en-US" sz="2800" dirty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User Story K1-3 (Feature Engineering Layout):</a:t>
            </a:r>
            <a:r>
              <a:rPr lang="en-US" sz="2800" dirty="0"/>
              <a:t> </a:t>
            </a:r>
            <a:r>
              <a:rPr lang="en-US" sz="2800" i="1" dirty="0"/>
              <a:t>As an ML engineer, I need to write custom Python functions to extract text properties from URLs (lengths, subdomains, special character counts) alongside early HTML script indicators</a:t>
            </a:r>
            <a:r>
              <a:rPr lang="en-US" sz="2800" i="1" dirty="0" smtClean="0"/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666749" y="838173"/>
            <a:ext cx="9763125" cy="2257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Core Functionality Validated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465" y="3029535"/>
            <a:ext cx="9253537" cy="6590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The progressive demonstration validated the following functional code components: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•	Multi-Source Dataset Consolidation: Programmatic merging of crowdsourced malicious links with legitimate corporate domains into a standardized dataset workspace.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•	Live Feature Matrix Mapping: Demonstration of the feature engineering scripts dynamically processing raw text input URLs into organized numerical vectors (URL lengths, subdomain counts, and special symbol counts like @, -, and _).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•	Reproducible Ingestion Pipelines: A clean script layout utilizing static random seeds to split data into an 80% training matrix and a 20% testing matrix automatically.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801"/>
          <a:stretch/>
        </p:blipFill>
        <p:spPr>
          <a:xfrm>
            <a:off x="10429874" y="3068641"/>
            <a:ext cx="7599680" cy="5297225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rot="-4945975">
            <a:off x="15101778" y="-5016438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268288">
            <a:off x="-6005389" y="-6781594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2105025" y="4419600"/>
            <a:ext cx="12639675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Sprint 1 </a:t>
            </a:r>
            <a:r>
              <a:rPr lang="en-US" sz="8799" dirty="0" smtClean="0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Concluded</a:t>
            </a:r>
            <a:endParaRPr lang="en-US" sz="8799" dirty="0">
              <a:solidFill>
                <a:srgbClr val="1A1A1A"/>
              </a:solidFill>
              <a:latin typeface="Gilda Display"/>
              <a:ea typeface="Gilda Display"/>
              <a:cs typeface="Gilda Display"/>
              <a:sym typeface="Gilda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276</Words>
  <Application>Microsoft Office PowerPoint</Application>
  <PresentationFormat>Custom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Gilda Display</vt:lpstr>
      <vt:lpstr>Calibri</vt:lpstr>
      <vt:lpstr>Arial</vt:lpstr>
      <vt:lpstr>HK Grotesk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BIT310 Capstone Assignment 2</dc:title>
  <dc:creator>Muhammed Murtuza</dc:creator>
  <dc:description>Presentation - BIT310 Capstone Assignment 2</dc:description>
  <cp:lastModifiedBy>Muhammed Murtuza</cp:lastModifiedBy>
  <cp:revision>6</cp:revision>
  <dcterms:created xsi:type="dcterms:W3CDTF">2006-08-16T00:00:00Z</dcterms:created>
  <dcterms:modified xsi:type="dcterms:W3CDTF">2026-06-05T19:11:49Z</dcterms:modified>
  <dc:identifier>DAHLuX5y3GU</dc:identifier>
</cp:coreProperties>
</file>